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$M</c:v>
                </c:pt>
              </c:strCache>
            </c:strRef>
          </c:tx>
          <c:spPr>
            <a:solidFill>
              <a:srgbClr val="2A4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4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4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F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1.93</c:v>
                </c:pt>
                <c:pt idx="2">
                  <c:v>6.95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Don't speak for 4 seconds. Let the $950K land. Then: 'Most of our customers guessed they were wasting some of that. We show them exactly how much — and where.'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in 20 seconds. Then go straight back to the hook question: 'Who in this room knows exactly what their AI spend in Sales is producing?'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'0' is the most powerful number. Let them read it. Then: 'Zero. There is no tool today that takes what Gong costs and connects it to what your win rate did.'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homegrown tool finding is the killer. Companies spending engineering time building this before a product exists = proven willingness to invest. Stronger than an 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 AI Act is a forcing function that US competitors don't face. We're international-first by architecture. That's not a roadmap item — it's the product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panel is the moat slide embedded in the solution slide. When a VC asks 'what's defensible?' point to it: the benchmark dataset compounds with every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shadow AI discovery layer (Okta/M365) is what every customer sees in 48 hours — before we've even configured KPIs. That's the first 'aha.' Show this slide as the architecture, not as a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S&amp;M and not R&amp;D. Larger AI spend, clearest link to board-visible metrics, zero competitor coverage. The ROI math clears the ACV bar from cost savings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Larridin's browser-extension model has fundamental GDPR issues. Rebuilding for EU is 12–18 months. We'll have 30+ EU customers before they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$30K ACV used for TAM/SAM is conservative vs. our actual $40K–$87K blended. SOM of 1,800 customers over 5 years = 82 paying customers by end of Year 3 — consistent with our financial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Land-and-expand is mechanical: Growth customers hit 500 employees and need more integrations. Mid-Market is the natural upgrade. NRR reaches 112.5% by Y3.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free shadow AI audit is the hook. In 48 hours we show the CFO a map of every AI tool in use — including ones IT doesn't know about. That earns the paid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homegrown tool companies are the strongest signal. They've already proved willingness to invest engineering time before a product exists. That's stronger than an 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Y1 CAC payback of 48 months is structurally inflated — 27% gross margin, 8 customers, full build cost. Y2 16 months is at benchmark (14–18 months). Y3 8 months is best-in-class. The trend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Y2 gross margin 62% is below the 65% Series A standard — deliberate. R&amp;D doubles to build FDE capacity. Y3 hits 78%, well above threshold. The Series A H1 2028 is raised on Y1 traction, not Y2 annual GM.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unlocks when we have enough cross-customer data to make benchmarks meaningful. The vision — the Bloomberg Terminal of AI ROI — is the data moat made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'Why this team?' — We heard the problem from CFOs before writing a line of code. CEO covers GTM, CTO covers AI systems, CPO covers product. Those are the three functions that matter most at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'We're raising $5M at $16M pre. Q4 2026. Looking for investors who understand AI infrastructure and have a European network.'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pause after 'Let's talk.' Don't fill the silence. Let them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3657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B4FD8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$950K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S&amp;M team spends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~$950K / year on AI tools.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1148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933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knows which ones are working.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16459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intelligence layer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enterprise AI adoption.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5943600" cy="32004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3347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pPr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Benchmark   ·   Recommend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07238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 Yardeni · Barak Cohen · Shani Kashi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 Coller School of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00584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234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0" y="148132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704088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05472" y="2670048"/>
            <a:ext cx="1499616" cy="32004"/>
          </a:xfrm>
          <a:prstGeom prst="rect">
            <a:avLst/>
          </a:prstGeom>
          <a:solidFill>
            <a:srgbClr val="253050"/>
          </a:solidFill>
          <a:ln w="12700">
            <a:solidFill>
              <a:srgbClr val="25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798064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 $16M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 $21M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 ~24%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are scaling AI budgets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flying blind on ROI.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9339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$950K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S&amp;M AI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year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(800-person tech org)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7832" y="1993392"/>
            <a:ext cx="0" cy="1691640"/>
          </a:xfrm>
          <a:prstGeom prst="line">
            <a:avLst/>
          </a:prstGeom>
          <a:noFill/>
          <a:ln w="7620">
            <a:solidFill>
              <a:srgbClr val="1D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9339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3383280" y="28803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running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its own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1993392"/>
            <a:ext cx="0" cy="1691640"/>
          </a:xfrm>
          <a:prstGeom prst="line">
            <a:avLst/>
          </a:prstGeom>
          <a:noFill/>
          <a:ln w="7620">
            <a:solidFill>
              <a:srgbClr val="1D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9339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connect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to pipeline,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rate, or CAC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8321040" cy="841248"/>
          </a:xfrm>
          <a:prstGeom prst="roundRect">
            <a:avLst>
              <a:gd name="adj" fmla="val 8696"/>
            </a:avLst>
          </a:prstGeom>
          <a:solidFill>
            <a:srgbClr val="0D1F3A"/>
          </a:solidFill>
          <a:ln w="12700">
            <a:solidFill>
              <a:srgbClr val="0D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31920"/>
            <a:ext cx="54864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416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pushed everyone to use AI — and now I have no idea if any of it is working."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2569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CFO, NY-based technology company · Primary interview, 2025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senior interviews. One consistent gap.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CFOs · 1 COO · 1 CIO · 1 Head of AI · 500–5,000 employees · Israeli AI trends report N=150+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229600" cy="32004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4FD8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07008" y="159105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stops at the login screen.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07008" y="192024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see spend and seats per tool. They never see whether any of it drives an outcome.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07008" y="2359152"/>
            <a:ext cx="7498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4FD8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207008" y="25237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is still manual and unsolved.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07008" y="285292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usage to business results is done in spreadsheets — if it's done at 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07008" y="3291840"/>
            <a:ext cx="7498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2841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4FD8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207008" y="345643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dashboards, no single picture.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7008" y="378561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reports only on itself. No one connects them into one coherent view.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34840"/>
            <a:ext cx="8321040" cy="420624"/>
          </a:xfrm>
          <a:prstGeom prst="roundRect">
            <a:avLst>
              <a:gd name="adj" fmla="val 13043"/>
            </a:avLst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5079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companies had already built internal tools before we arrived — the strongest demand signal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is 18–24 months.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1579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outpaced visibility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84832" y="1865376"/>
            <a:ext cx="0" cy="713232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1865376"/>
            <a:ext cx="6492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AI spend tripled to $3,400/month per mid-market marketing team in 12 months. Boards now ask hard ROI questions. 'We use AI' is no longer sufficient.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1638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application Aug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84832" y="2871216"/>
            <a:ext cx="0" cy="713232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871216"/>
            <a:ext cx="6492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deploying AI must now document usage, assess risk, and report incidents. Compliance requires exactly what we measure. Larridin is US-only until 2027.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169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solve this for you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84832" y="3877056"/>
            <a:ext cx="0" cy="713232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3877056"/>
            <a:ext cx="6492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Gong, OpenAI, and Outreach each report only on themselves. They have no incentive to tell you their tool underperforms another. We 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AdoptAI connects token spend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KPIs you already track.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API-first. Live in under two weeks.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5029200" cy="32004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2996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MEASURE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2494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telemetry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tool, one API layer. Gong, Outreach, ChatGPT, Jasper. No codebase access.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89504"/>
            <a:ext cx="47548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626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BENCHMARK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Connector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token consumption to pipeline velocity, win rate, and CAC. You define value — we measure 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47548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953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RECOMMEND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engine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× time × value score per team. Ranked actions, not just a dashboard.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502920"/>
            <a:ext cx="2971800" cy="4343400"/>
          </a:xfrm>
          <a:prstGeom prst="roundRect">
            <a:avLst>
              <a:gd name="adj" fmla="val 369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777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46888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23444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we configure adds to our benchmark library.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 50 we know what good looks like for a 500-person B2B SaaS team.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that dataset without building our customer base first.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382219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network effect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the real moat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layers. One API connection. Live in 48 hours.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" y="1170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source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" y="24871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" y="380390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" y="40416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15568" y="1042416"/>
            <a:ext cx="7635240" cy="1005840"/>
          </a:xfrm>
          <a:prstGeom prst="roundRect">
            <a:avLst>
              <a:gd name="adj" fmla="val 7273"/>
            </a:avLst>
          </a:prstGeom>
          <a:solidFill>
            <a:srgbClr val="EBF5F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115214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61872" y="120700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115214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20700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24528" y="115214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24528" y="120700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05856" y="115214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05856" y="120700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/ ZoomInfo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87184" y="115214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87184" y="120700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74520" y="1682496"/>
            <a:ext cx="0" cy="3474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33472" y="1682496"/>
            <a:ext cx="0" cy="3474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1682496"/>
            <a:ext cx="0" cy="3474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42232" y="1682496"/>
            <a:ext cx="0" cy="3474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1682496"/>
            <a:ext cx="0" cy="3474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telemetry via API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15568" y="2359152"/>
            <a:ext cx="7635240" cy="987552"/>
          </a:xfrm>
          <a:prstGeom prst="roundRect">
            <a:avLst>
              <a:gd name="adj" fmla="val 925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243230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adoptAI — intelligence layer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43584" y="2688336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162244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16736" y="2724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telemetry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16736" y="29626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normalise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93592" y="2907792"/>
            <a:ext cx="109728" cy="0"/>
          </a:xfrm>
          <a:prstGeom prst="line">
            <a:avLst/>
          </a:prstGeom>
          <a:noFill/>
          <a:ln w="10160">
            <a:solidFill>
              <a:srgbClr val="3A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0752" y="2688336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162244"/>
          </a:solidFill>
          <a:ln w="7620">
            <a:solidFill>
              <a:srgbClr val="1B4F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2724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Connector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03904" y="29626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org KPIs via FDE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80760" y="2907792"/>
            <a:ext cx="109728" cy="0"/>
          </a:xfrm>
          <a:prstGeom prst="line">
            <a:avLst/>
          </a:prstGeom>
          <a:noFill/>
          <a:ln w="10160">
            <a:solidFill>
              <a:srgbClr val="3A5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688336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162244"/>
          </a:solidFill>
          <a:ln w="7620">
            <a:solidFill>
              <a:srgbClr val="C289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7249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engine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29626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× time × value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15568" y="1664208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BEE"/>
          </a:solidFill>
          <a:ln w="6350">
            <a:solidFill>
              <a:srgbClr val="C28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33856" y="17099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Okta/M365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74520" y="3364992"/>
            <a:ext cx="0" cy="274320"/>
          </a:xfrm>
          <a:prstGeom prst="line">
            <a:avLst/>
          </a:prstGeom>
          <a:noFill/>
          <a:ln w="10160">
            <a:solidFill>
              <a:srgbClr val="1B4F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4992" y="3364992"/>
            <a:ext cx="0" cy="274320"/>
          </a:xfrm>
          <a:prstGeom prst="line">
            <a:avLst/>
          </a:prstGeom>
          <a:noFill/>
          <a:ln w="10160">
            <a:solidFill>
              <a:srgbClr val="1B4F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3364992"/>
            <a:ext cx="0" cy="274320"/>
          </a:xfrm>
          <a:prstGeom prst="line">
            <a:avLst/>
          </a:prstGeom>
          <a:noFill/>
          <a:ln w="10160">
            <a:solidFill>
              <a:srgbClr val="1B4F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511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benchmarks + savings actions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15568" y="3703320"/>
            <a:ext cx="7635240" cy="969264"/>
          </a:xfrm>
          <a:prstGeom prst="roundRect">
            <a:avLst>
              <a:gd name="adj" fmla="val 7547"/>
            </a:avLst>
          </a:prstGeom>
          <a:solidFill>
            <a:srgbClr val="FFF8EE"/>
          </a:solidFill>
          <a:ln w="6350">
            <a:solidFill>
              <a:srgbClr val="C289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61872" y="381304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C289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261872" y="3858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/ HubSpot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27248" y="381304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C289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127248" y="3858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Marketo / Pardot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92624" y="381304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C289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92624" y="3858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Looker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81304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C289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58000" y="3858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Finance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 — SALES &amp; MARKETING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$950K spent. $200K wasted.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show you exactly which is which.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$200K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822960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2029968" cy="2633472"/>
          </a:xfrm>
          <a:prstGeom prst="roundRect">
            <a:avLst>
              <a:gd name="adj" fmla="val 4505"/>
            </a:avLst>
          </a:prstGeom>
          <a:solidFill>
            <a:srgbClr val="F7F9FC"/>
          </a:solidFill>
          <a:ln w="1016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" y="18836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30936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26-35%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30936" y="272491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2980944"/>
            <a:ext cx="1783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305409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lift when coaching features actually used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79192" y="1755648"/>
            <a:ext cx="2029968" cy="2633472"/>
          </a:xfrm>
          <a:prstGeom prst="roundRect">
            <a:avLst>
              <a:gd name="adj" fmla="val 4505"/>
            </a:avLst>
          </a:prstGeom>
          <a:solidFill>
            <a:srgbClr val="F7F9FC"/>
          </a:solidFill>
          <a:ln w="1016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07208" y="18836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7208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807208" y="272491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velocity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07208" y="2980944"/>
            <a:ext cx="1783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305409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meetings per SDR from AI routing vs. reformatting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1755648"/>
            <a:ext cx="2029968" cy="2633472"/>
          </a:xfrm>
          <a:prstGeom prst="roundRect">
            <a:avLst>
              <a:gd name="adj" fmla="val 4505"/>
            </a:avLst>
          </a:prstGeom>
          <a:solidFill>
            <a:srgbClr val="F7F9FC"/>
          </a:solidFill>
          <a:ln w="1016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8836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983480" y="272491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980944"/>
            <a:ext cx="1783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5409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campaigns per marketer with AI vs. without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31736" y="1755648"/>
            <a:ext cx="2029968" cy="2633472"/>
          </a:xfrm>
          <a:prstGeom prst="roundRect">
            <a:avLst>
              <a:gd name="adj" fmla="val 4505"/>
            </a:avLst>
          </a:prstGeom>
          <a:solidFill>
            <a:srgbClr val="F7F9FC"/>
          </a:solidFill>
          <a:ln w="1016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9752" y="18836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PMax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59752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3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159752" y="272491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9752" y="2980944"/>
            <a:ext cx="178308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9752" y="305409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ad spend from AI bidding vs. manual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553712"/>
            <a:ext cx="8321040" cy="402336"/>
          </a:xfrm>
          <a:prstGeom prst="roundRect">
            <a:avLst>
              <a:gd name="adj" fmla="val 1363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6268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savings: $205K–$293K/year  ·  2.8–4.1× ROI vs. $72K ACV  ·  Cost-side only — no revenue uplift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measures one slice.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connects spend to value.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3749040" cy="272491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843784"/>
            <a:ext cx="3749040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8568" y="1481328"/>
            <a:ext cx="0" cy="2724912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97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only  →  AI spend + ROI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-438912" y="2029968"/>
            <a:ext cx="685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Eng-only → Whole org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32150" y="1794784"/>
            <a:ext cx="402336" cy="354056"/>
          </a:xfrm>
          <a:prstGeom prst="ellipse">
            <a:avLst/>
          </a:prstGeom>
          <a:solidFill>
            <a:srgbClr val="1B4FD8"/>
          </a:solidFill>
          <a:ln w="15240">
            <a:solidFill>
              <a:srgbClr val="0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2150" y="1810878"/>
            <a:ext cx="402336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1062" y="18620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2052" y="2466685"/>
            <a:ext cx="237744" cy="209215"/>
          </a:xfrm>
          <a:prstGeom prst="ellipse">
            <a:avLst/>
          </a:prstGeom>
          <a:solidFill>
            <a:srgbClr val="B0C0D8"/>
          </a:solidFill>
          <a:ln w="5080">
            <a:solidFill>
              <a:srgbClr val="B0C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6372" y="2461565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Larridin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14677" y="2303191"/>
            <a:ext cx="237744" cy="209215"/>
          </a:xfrm>
          <a:prstGeom prst="ellipse">
            <a:avLst/>
          </a:prstGeom>
          <a:solidFill>
            <a:srgbClr val="B0C0D8"/>
          </a:solidFill>
          <a:ln w="5080">
            <a:solidFill>
              <a:srgbClr val="B0C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8997" y="229807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Homegrown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2513" y="2412187"/>
            <a:ext cx="237744" cy="209215"/>
          </a:xfrm>
          <a:prstGeom prst="ellipse">
            <a:avLst/>
          </a:prstGeom>
          <a:solidFill>
            <a:srgbClr val="B0C0D8"/>
          </a:solidFill>
          <a:ln w="5080">
            <a:solidFill>
              <a:srgbClr val="B0C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833" y="240706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Torii/Zylo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9658" y="3338657"/>
            <a:ext cx="237744" cy="209215"/>
          </a:xfrm>
          <a:prstGeom prst="ellipse">
            <a:avLst/>
          </a:prstGeom>
          <a:solidFill>
            <a:srgbClr val="B0C0D8"/>
          </a:solidFill>
          <a:ln w="5080">
            <a:solidFill>
              <a:srgbClr val="B0C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3978" y="333353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89888" y="3011668"/>
            <a:ext cx="237744" cy="209215"/>
          </a:xfrm>
          <a:prstGeom prst="ellipse">
            <a:avLst/>
          </a:prstGeom>
          <a:solidFill>
            <a:srgbClr val="B0C0D8"/>
          </a:solidFill>
          <a:ln w="5080">
            <a:solidFill>
              <a:srgbClr val="B0C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64208" y="300654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7408" y="1481328"/>
            <a:ext cx="4370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FRAME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07408" y="1828800"/>
            <a:ext cx="4370832" cy="420624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19110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Larridin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191109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$17M a16z · US-only until 2027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08976" y="1920240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9293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07408" y="2304288"/>
            <a:ext cx="437083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3865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Homegrown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23865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today — hard to maintain at scale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08976" y="2395728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2404872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07408" y="2779776"/>
            <a:ext cx="4370832" cy="420624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28620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286207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seed · R&amp;D only · no compliance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08976" y="2871216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C2890A"/>
          </a:solidFill>
          <a:ln w="12700">
            <a:solidFill>
              <a:srgbClr val="C289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08976" y="2880360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07408" y="3255264"/>
            <a:ext cx="437083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7136" y="33375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Torii/Zylo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333756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spend only · no token analytics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08976" y="3346704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C2890A"/>
          </a:solidFill>
          <a:ln w="12700">
            <a:solidFill>
              <a:srgbClr val="C289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8976" y="335584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07408" y="3730752"/>
            <a:ext cx="4370832" cy="420624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38130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natives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381304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Single-vendor view only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08976" y="3822192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3831336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07408" y="4224528"/>
            <a:ext cx="4370832" cy="603504"/>
          </a:xfrm>
          <a:prstGeom prst="roundRect">
            <a:avLst>
              <a:gd name="adj" fmla="val 121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53712" y="4315968"/>
            <a:ext cx="4078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3 axes no competitor covers: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· EU AI Act built-in · API-first S&amp;M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category.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$3.84B beachhead.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$6.6B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57860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220,000 mid-market orgs globally × $30K ACV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8229600" cy="0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71600" y="28163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$3.84B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1371600" y="367588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128,000 orgs in Israel, UK, Europe &amp; ME × $30K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8229600" cy="0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233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477316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orgs × $50K blended ACV = 2.3% of SAM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methodologies — top-down and bottom-up — converge on the same $3.84B SAM. AI governance software growing at 44% CAGR to $37.5B by 2029.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SaaS. Land small. Expand fast.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axis: employee count. Blended ACV rises $40K → $66K → $87K across Year 1–3.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22960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17904"/>
            <a:ext cx="2724912" cy="327355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E8E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19385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67512" y="25786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7980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emp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" y="3072384"/>
            <a:ext cx="2395728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182112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Core token telemetry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352958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integrations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" y="3877056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Shadow AI visibility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1261872"/>
            <a:ext cx="2724912" cy="274320"/>
          </a:xfrm>
          <a:prstGeom prst="roundRect">
            <a:avLst>
              <a:gd name="adj" fmla="val 26667"/>
            </a:avLst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80160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ICP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83280" y="1517904"/>
            <a:ext cx="2724912" cy="3273552"/>
          </a:xfrm>
          <a:prstGeom prst="roundRect">
            <a:avLst>
              <a:gd name="adj" fmla="val 335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47872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Mid-Market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47872" y="19385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$72K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547872" y="25786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47872" y="27980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500–2,000 emp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47872" y="3072384"/>
            <a:ext cx="2395728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3182112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KPI Connector (8 integrations)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47872" y="352958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 benchmarking + optimisation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47872" y="3877056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Dedicated CSM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517904"/>
            <a:ext cx="2724912" cy="327355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E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8232" y="19385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28232" y="25786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+/yr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28232" y="27980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2,000–5,000+ emp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28232" y="3072384"/>
            <a:ext cx="2395728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182112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Unlimited integrations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28232" y="352958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EU AI Act modules + board reporting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28232" y="3877056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 + multi-region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in S&amp;M. Start in Israel.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vs. all competitors · Board-visible KPIs · No competitor 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22960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Enter now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2724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47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High-growth B2B SaaS (Series B–D)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IT/cloud managed service providers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15179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Year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792224"/>
            <a:ext cx="2724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289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847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 / FinTech (EU AI Act hook)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 &amp; talent acquisition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15179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Year 3+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792224"/>
            <a:ext cx="2724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847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Manufacturing, logistics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2724912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E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0906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design partners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" y="409651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shadow AI audit as the hook. CEO is the first seller. Zero AEs. ~$136K/mo burn.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2724912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30906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11296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2 AEs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11296" y="409651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playbook. ~10 closes/AE/yr. Founder exits the selling seat.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999232"/>
            <a:ext cx="2724912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E8E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0906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91656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channels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MSP + marketplace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91656" y="409651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marketplace. SoftwareOne MSP. EU AI Act consultancy partners.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 committed.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confirmed at C-suite level.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642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interviews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CFOs · 1 COO · 1 CIO · 1 Head of AI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27832" y="1664208"/>
            <a:ext cx="0" cy="1417320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642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383280" y="25420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LOIs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convert to paying at $35–72K ACV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08192" y="1664208"/>
            <a:ext cx="0" cy="1417320"/>
          </a:xfrm>
          <a:prstGeom prst="line">
            <a:avLst/>
          </a:prstGeom>
          <a:noFill/>
          <a:ln w="6350">
            <a:solidFill>
              <a:srgbClr val="1D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6642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263640" y="25420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built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homegrown tools — strongest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3977640" cy="969264"/>
          </a:xfrm>
          <a:prstGeom prst="roundRect">
            <a:avLst>
              <a:gd name="adj" fmla="val 7547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43814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no idea if the AI spend is working."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38770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CFO, Axon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310128"/>
            <a:ext cx="3977640" cy="969264"/>
          </a:xfrm>
          <a:prstGeom prst="roundRect">
            <a:avLst>
              <a:gd name="adj" fmla="val 7547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43814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see costs. I cannot see value."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38770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CFO, technology company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trend is the argument.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a design-partner build year. By Year 3 the model clears every Series-A benchmark.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490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1490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490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653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56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1956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74920" y="1956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0" y="1956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24140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4140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24140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71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28712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5.1×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28712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0" y="28712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2369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91840" y="33284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33284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0" y="33284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6941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85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91840" y="37856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74920" y="37856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0" y="37856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151376"/>
            <a:ext cx="83210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42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growth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91840" y="4242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74920" y="4242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+509%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58000" y="42428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+261%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31 → 82 customers.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$0.3M → $7.0M ARR.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84048" y="1481328"/>
          <a:ext cx="4572000" cy="3255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30368" y="1481328"/>
            <a:ext cx="3593592" cy="347472"/>
          </a:xfrm>
          <a:prstGeom prst="roundRect">
            <a:avLst>
              <a:gd name="adj" fmla="val 157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79008" y="153619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11696" y="153619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44384" y="153619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30368" y="1865376"/>
            <a:ext cx="3593592" cy="420624"/>
          </a:xfrm>
          <a:prstGeom prst="roundRect">
            <a:avLst>
              <a:gd name="adj" fmla="val 8696"/>
            </a:avLst>
          </a:prstGeom>
          <a:solidFill>
            <a:srgbClr val="E8EEF8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21808" y="1956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79008" y="19568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11696" y="19568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44384" y="19568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0368" y="2322576"/>
            <a:ext cx="359359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4140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79008" y="24140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11696" y="24140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$1.62M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44384" y="24140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$6.12M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0368" y="2779776"/>
            <a:ext cx="3593592" cy="420624"/>
          </a:xfrm>
          <a:prstGeom prst="roundRect">
            <a:avLst>
              <a:gd name="adj" fmla="val 8696"/>
            </a:avLst>
          </a:prstGeom>
          <a:solidFill>
            <a:srgbClr val="E8EEF8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28712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79008" y="28712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711696" y="28712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644384" y="28712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30368" y="3236976"/>
            <a:ext cx="359359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808" y="33284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Oper. cash flow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779008" y="33284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($1.6M)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711696" y="33284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($3.7M)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44384" y="33284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($4.0M)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230368" y="3694176"/>
            <a:ext cx="3593592" cy="420624"/>
          </a:xfrm>
          <a:prstGeom prst="roundRect">
            <a:avLst>
              <a:gd name="adj" fmla="val 8696"/>
            </a:avLst>
          </a:prstGeom>
          <a:solidFill>
            <a:srgbClr val="E8EEF8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21808" y="37856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79008" y="37856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711696" y="37856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$7.6M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644384" y="3785616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" y="4773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$5M Q4 2026  ·  Series A $8M H1 2028  ·  Headcount 12 → 32 → 59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S&amp;M beachhead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Bloomberg Terminal of AI ROI.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980944"/>
            <a:ext cx="8229600" cy="0"/>
          </a:xfrm>
          <a:prstGeom prst="line">
            <a:avLst/>
          </a:prstGeom>
          <a:noFill/>
          <a:ln w="15240">
            <a:solidFill>
              <a:srgbClr val="1D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17904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0D1F3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45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" y="20116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beachhead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07592" y="2871216"/>
            <a:ext cx="219456" cy="219456"/>
          </a:xfrm>
          <a:prstGeom prst="ellipse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218688"/>
            <a:ext cx="2029968" cy="1426464"/>
          </a:xfrm>
          <a:prstGeom prst="roundRect">
            <a:avLst>
              <a:gd name="adj" fmla="val 5128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3346704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map. KPI Connector. 8 design partners. FDE playbook validated.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9192" y="1517904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0D1F3A"/>
          </a:solidFill>
          <a:ln w="10160">
            <a:solidFill>
              <a:srgbClr val="1B4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1645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07208" y="20116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expand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83864" y="2871216"/>
            <a:ext cx="219456" cy="219456"/>
          </a:xfrm>
          <a:prstGeom prst="ellipse">
            <a:avLst/>
          </a:prstGeom>
          <a:solidFill>
            <a:srgbClr val="1D3050"/>
          </a:solidFill>
          <a:ln w="10160">
            <a:solidFill>
              <a:srgbClr val="1B4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3218688"/>
            <a:ext cx="2029968" cy="1426464"/>
          </a:xfrm>
          <a:prstGeom prst="roundRect">
            <a:avLst>
              <a:gd name="adj" fmla="val 5128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3346704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engine v2. 10+ integrations. Series A H1 2028. First 2 AEs.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55464" y="1517904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0D1F3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645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20116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0136" y="2871216"/>
            <a:ext cx="219456" cy="219456"/>
          </a:xfrm>
          <a:prstGeom prst="ellipse">
            <a:avLst/>
          </a:prstGeom>
          <a:solidFill>
            <a:srgbClr val="1D305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3218688"/>
            <a:ext cx="2029968" cy="1426464"/>
          </a:xfrm>
          <a:prstGeom prst="roundRect">
            <a:avLst>
              <a:gd name="adj" fmla="val 5128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46704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Cross-customer benchmarks at 82+ logos. EU AI Act suite. $7M ARR.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31736" y="1517904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0D1F3A"/>
          </a:solidFill>
          <a:ln w="10160">
            <a:solidFill>
              <a:srgbClr val="C289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645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59752" y="20116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36408" y="2871216"/>
            <a:ext cx="219456" cy="219456"/>
          </a:xfrm>
          <a:prstGeom prst="ellipse">
            <a:avLst/>
          </a:prstGeom>
          <a:solidFill>
            <a:srgbClr val="1D3050"/>
          </a:solidFill>
          <a:ln w="10160">
            <a:solidFill>
              <a:srgbClr val="C289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31736" y="3218688"/>
            <a:ext cx="2029968" cy="1426464"/>
          </a:xfrm>
          <a:prstGeom prst="roundRect">
            <a:avLst>
              <a:gd name="adj" fmla="val 5128"/>
            </a:avLst>
          </a:prstGeom>
          <a:solidFill>
            <a:srgbClr val="0D1F3A"/>
          </a:solidFill>
          <a:ln w="6350">
            <a:solidFill>
              <a:srgbClr val="1D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3346704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network. Autonomous spend rebalancing. Acquirable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founding team.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engineering, GTM.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64208"/>
            <a:ext cx="658368" cy="658368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00784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71016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Neta Yardeni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1016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32304"/>
            <a:ext cx="2633472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4203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strategy. Owns business model, pricing &amp; capital plan.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6420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00784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51376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Barak Cohen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51376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32304"/>
            <a:ext cx="2633472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54203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systems. Led engineering at $1B+ startup. Owns architecture &amp; competitive intel.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64208"/>
            <a:ext cx="658368" cy="658368"/>
          </a:xfrm>
          <a:prstGeom prst="ellipse">
            <a:avLst/>
          </a:prstGeom>
          <a:solidFill>
            <a:srgbClr val="C2890A"/>
          </a:solidFill>
          <a:ln w="12700">
            <a:solidFill>
              <a:srgbClr val="C28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700784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31736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Shani Kashi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31736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2432304"/>
            <a:ext cx="2633472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54203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product 1→100+ customers at ~200% YoY. Owns market research &amp; product direction.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C-suite interviews  ·  3 design partner LOIs  ·  2 homegrown tool builders validated demand  ·  TAU MBA cohort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 $5M seed to reach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Series-A traction.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27632"/>
            <a:ext cx="3200400" cy="3163824"/>
          </a:xfrm>
          <a:prstGeom prst="roundRect">
            <a:avLst>
              <a:gd name="adj" fmla="val 346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048256"/>
            <a:ext cx="3200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273552"/>
            <a:ext cx="283464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83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12848" y="33832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941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12848" y="369417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05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400507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13632" y="1682496"/>
            <a:ext cx="4864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CAPITAL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2048256"/>
            <a:ext cx="182880" cy="18288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199339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&amp; FDE capacity —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87952" y="221284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Connector and optimisation engine (~55% of spend).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13632" y="252374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46888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design-partner customers —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87952" y="26883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willingness to pay before hiring sales.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13632" y="2999232"/>
            <a:ext cx="182880" cy="182880"/>
          </a:xfrm>
          <a:prstGeom prst="ellipse">
            <a:avLst/>
          </a:prstGeom>
          <a:solidFill>
            <a:srgbClr val="C2890A"/>
          </a:solidFill>
          <a:ln w="12700">
            <a:solidFill>
              <a:srgbClr val="C289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9443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+ SOC 2 —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87952" y="316382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foundation from day one — not bolted on later.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13632" y="3401568"/>
            <a:ext cx="4864608" cy="3200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3493008"/>
            <a:ext cx="4864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BEFORE SERIES 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13632" y="380390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51376" y="37307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paying design-partners — validated willingness to pay.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13632" y="411480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4041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sales motion — Y2 pipeline without the founder selling.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13632" y="44256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1376" y="4352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playbook validated — config time ≤3 days/customer.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663440"/>
            <a:ext cx="83210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6350">
            <a:solidFill>
              <a:srgbClr val="E8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72744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</a:t>
            </a:r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~$136K/mo burn through end-2027 — past every Series-A milestone.  </a:t>
            </a:r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$8M Series A, H1 2028.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paying for 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measure.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200" y="2971800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127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 token to the outcomes that matter.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02736"/>
            <a:ext cx="8229600" cy="32004"/>
          </a:xfrm>
          <a:prstGeom prst="rect">
            <a:avLst/>
          </a:prstGeom>
          <a:solidFill>
            <a:srgbClr val="1D3050"/>
          </a:solidFill>
          <a:ln w="12700">
            <a:solidFill>
              <a:srgbClr val="1D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8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 Yardeni  ·  Barak Cohen  ·  Shani Kashi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 Coller School of Management · Assignment 3 · June 2026 ·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adoptAI — Seed Round Pitch Deck 2026</dc:title>
  <dc:subject>PptxGenJS Presentation</dc:subject>
  <dc:creator>adoptAI</dc:creator>
  <cp:lastModifiedBy>adoptAI</cp:lastModifiedBy>
  <cp:revision>1</cp:revision>
  <dcterms:created xsi:type="dcterms:W3CDTF">2026-06-16T14:10:41Z</dcterms:created>
  <dcterms:modified xsi:type="dcterms:W3CDTF">2026-06-16T14:10:41Z</dcterms:modified>
</cp:coreProperties>
</file>